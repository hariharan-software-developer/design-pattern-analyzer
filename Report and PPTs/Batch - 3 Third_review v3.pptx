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60" r:id="rId5"/>
    <p:sldId id="296" r:id="rId6"/>
    <p:sldId id="302" r:id="rId7"/>
    <p:sldId id="286" r:id="rId8"/>
    <p:sldId id="287" r:id="rId9"/>
    <p:sldId id="297" r:id="rId10"/>
    <p:sldId id="291" r:id="rId11"/>
    <p:sldId id="298" r:id="rId12"/>
    <p:sldId id="292" r:id="rId13"/>
    <p:sldId id="299" r:id="rId14"/>
    <p:sldId id="293" r:id="rId15"/>
    <p:sldId id="300" r:id="rId16"/>
    <p:sldId id="295" r:id="rId17"/>
    <p:sldId id="301" r:id="rId18"/>
    <p:sldId id="294" r:id="rId19"/>
    <p:sldId id="280" r:id="rId20"/>
    <p:sldId id="28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7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71" name="PlaceHolder 4"/>
          <p:cNvSpPr>
            <a:spLocks noGrp="1"/>
          </p:cNvSpPr>
          <p:nvPr>
            <p:ph type="dt" idx="3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72" name="PlaceHolder 5"/>
          <p:cNvSpPr>
            <a:spLocks noGrp="1"/>
          </p:cNvSpPr>
          <p:nvPr>
            <p:ph type="ftr" idx="3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73" name="PlaceHolder 6"/>
          <p:cNvSpPr>
            <a:spLocks noGrp="1"/>
          </p:cNvSpPr>
          <p:nvPr>
            <p:ph type="sldNum" idx="3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C90E71C-D4B0-45F9-A7A0-E0D5D42EF450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0050" cy="3082925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1DFAD49-00FD-44D9-91A8-F8DD3930F79C}" type="slidenum"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rPr>
              <a:t>4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B3C71-8005-EFCD-6F0B-B609E66F6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>
            <a:extLst>
              <a:ext uri="{FF2B5EF4-FFF2-40B4-BE49-F238E27FC236}">
                <a16:creationId xmlns:a16="http://schemas.microsoft.com/office/drawing/2014/main" id="{2EA7CC56-63E4-C535-B80E-80AC63F109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0050" cy="3082925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50" name="PlaceHolder 2">
            <a:extLst>
              <a:ext uri="{FF2B5EF4-FFF2-40B4-BE49-F238E27FC236}">
                <a16:creationId xmlns:a16="http://schemas.microsoft.com/office/drawing/2014/main" id="{CBD33C2F-A703-BE75-3021-B41F330BA4E8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3">
            <a:extLst>
              <a:ext uri="{FF2B5EF4-FFF2-40B4-BE49-F238E27FC236}">
                <a16:creationId xmlns:a16="http://schemas.microsoft.com/office/drawing/2014/main" id="{68727794-5CF7-0656-D409-73A207838D3D}"/>
              </a:ext>
            </a:extLst>
          </p:cNvPr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1DFAD49-00FD-44D9-91A8-F8DD3930F79C}" type="slidenum"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rPr>
              <a:t>5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458656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0F8EF-D47F-E4E5-7CFE-5ACA942B9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>
            <a:extLst>
              <a:ext uri="{FF2B5EF4-FFF2-40B4-BE49-F238E27FC236}">
                <a16:creationId xmlns:a16="http://schemas.microsoft.com/office/drawing/2014/main" id="{392168EE-2A46-B08F-5D2E-ECD52BF012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0050" cy="3082925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50" name="PlaceHolder 2">
            <a:extLst>
              <a:ext uri="{FF2B5EF4-FFF2-40B4-BE49-F238E27FC236}">
                <a16:creationId xmlns:a16="http://schemas.microsoft.com/office/drawing/2014/main" id="{94140552-108B-4CA6-3C0B-D64097BCC83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3">
            <a:extLst>
              <a:ext uri="{FF2B5EF4-FFF2-40B4-BE49-F238E27FC236}">
                <a16:creationId xmlns:a16="http://schemas.microsoft.com/office/drawing/2014/main" id="{E56DFDF4-7202-0A9B-2A02-EC36BB135FA2}"/>
              </a:ext>
            </a:extLst>
          </p:cNvPr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1DFAD49-00FD-44D9-91A8-F8DD3930F79C}" type="slidenum"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rPr>
              <a:t>6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297376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360" cy="132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9254762-5AE0-4DEA-B6B6-BD7BE1C4A5B9}" type="slidenum">
              <a: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8" name="PlaceHolder 3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6CB0AD2-ACFB-48F7-8D72-223DA8B3A13D}" type="slidenum">
              <a: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56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560" cy="397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29040" cy="1596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68960" cy="487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29040" cy="380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6" name="PlaceHolder 6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50D512F-69F4-4BF2-B533-BE50BCE78FD3}" type="slidenum">
              <a: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29040" cy="1596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68960" cy="4870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29040" cy="380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2" name="PlaceHolder 6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FCD3884-0F1B-4F7A-AE01-320F110DD57B}" type="slidenum">
              <a: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0760" cy="2384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IN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6" name="PlaceHolder 4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8094E38-5A14-4D63-A4A1-2E65368528CE}" type="slidenum">
              <a: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560" cy="397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360" cy="132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2360" cy="4348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C36F517-008A-44A3-AA94-E56F78FCE65A}" type="slidenum">
              <a: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5840" cy="580860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1000" cy="580860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3844B76-9A2F-4C3F-AEEF-DBD2E0C6857C}" type="slidenum">
              <a: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360" cy="132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78240" cy="434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78240" cy="434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3" name="PlaceHolder 6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1C7F471-64B2-4F44-9A50-D572F69EB928}" type="slidenum">
              <a: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2360" cy="132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4480" cy="82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4480" cy="368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0040" cy="82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0040" cy="368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7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1" name="PlaceHolder 8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49EE1D2-6240-42B8-B9B8-C183713D3BD4}" type="slidenum">
              <a: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360" cy="132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2360" cy="434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6" name="PlaceHolder 5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A922DEC-756C-4CE1-9656-19CFB0252CB6}" type="slidenum">
              <a: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2360" cy="284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IN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2360" cy="1496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Click to edit Master text styles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1" name="PlaceHolder 5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0035D6B-D2CC-4BA1-BADF-206831678F20}" type="slidenum">
              <a: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lue_Curv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Flowchart: Document 1"/>
          <p:cNvSpPr/>
          <p:nvPr/>
        </p:nvSpPr>
        <p:spPr>
          <a:xfrm flipH="1" flipV="1">
            <a:off x="-2160" y="5440320"/>
            <a:ext cx="12189240" cy="141300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rotWithShape="0">
              <a:srgbClr val="009BDD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108720" tIns="54360" rIns="108720" bIns="5436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IN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0" y="1959120"/>
            <a:ext cx="10882800" cy="1303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IN" sz="3990" b="0" u="none" strike="noStrike">
                <a:solidFill>
                  <a:srgbClr val="DD4100"/>
                </a:solidFill>
                <a:effectLst/>
                <a:uFillTx/>
                <a:latin typeface="Arial"/>
              </a:rPr>
              <a:t>Click to edit the title text format</a:t>
            </a:r>
            <a:endParaRPr lang="en-IN" sz="39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35240" y="3483000"/>
            <a:ext cx="11318400" cy="1956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IN" sz="291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2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45080" lvl="1" indent="-391680" defTabSz="914400">
              <a:lnSpc>
                <a:spcPct val="90000"/>
              </a:lnSpc>
              <a:spcBef>
                <a:spcPts val="1029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IN" sz="254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Second Outline Level</a:t>
            </a:r>
            <a:endParaRPr lang="en-IN" sz="2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67440" lvl="2" indent="-348480" defTabSz="914400">
              <a:lnSpc>
                <a:spcPct val="90000"/>
              </a:lnSpc>
              <a:spcBef>
                <a:spcPts val="768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IN" sz="217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Third Outline Level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89800" lvl="3" indent="-261360" defTabSz="914400">
              <a:lnSpc>
                <a:spcPct val="90000"/>
              </a:lnSpc>
              <a:spcBef>
                <a:spcPts val="5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IN" sz="181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Fourth Outline Level</a:t>
            </a:r>
            <a:endParaRPr lang="en-IN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12160" lvl="4" indent="-261360" defTabSz="914400">
              <a:lnSpc>
                <a:spcPct val="90000"/>
              </a:lnSpc>
              <a:spcBef>
                <a:spcPts val="25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IN" sz="181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Fifth Outline Level</a:t>
            </a:r>
            <a:endParaRPr lang="en-IN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134880" lvl="5" indent="-261360" defTabSz="914400">
              <a:lnSpc>
                <a:spcPct val="90000"/>
              </a:lnSpc>
              <a:spcBef>
                <a:spcPts val="25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IN" sz="181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Sixth Outline Level</a:t>
            </a:r>
            <a:endParaRPr lang="en-IN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57240" lvl="6" indent="-261360" defTabSz="914400">
              <a:lnSpc>
                <a:spcPct val="90000"/>
              </a:lnSpc>
              <a:spcBef>
                <a:spcPts val="25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IN" sz="181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Seventh Outline Level</a:t>
            </a:r>
            <a:endParaRPr lang="en-IN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dt" idx="34"/>
          </p:nvPr>
        </p:nvSpPr>
        <p:spPr>
          <a:xfrm>
            <a:off x="435240" y="6312960"/>
            <a:ext cx="2827800" cy="433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IN" sz="17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7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ftr" idx="35"/>
          </p:nvPr>
        </p:nvSpPr>
        <p:spPr>
          <a:xfrm>
            <a:off x="4136400" y="6312960"/>
            <a:ext cx="3916440" cy="433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7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7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sldNum" idx="36"/>
          </p:nvPr>
        </p:nvSpPr>
        <p:spPr>
          <a:xfrm>
            <a:off x="8925840" y="6312960"/>
            <a:ext cx="2827800" cy="433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7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EA4274D-552C-4919-89B3-63F159F50C8B}" type="slidenum">
              <a:rPr lang="en-IN" sz="17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‹#›</a:t>
            </a:fld>
            <a:endParaRPr lang="en-IN" sz="1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github.com/naresh-webdev/static-analyzer-for-analysis-of-design-pattern/blob/main/architecture-tutor-project/src/architecture_tutor/singleton_detector.py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naresh-webdev/static-analyzer-for-analysis-of-design-pattern/blob/main/architecture-tutor-project/src/architecture_tutor/factory_detector.py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github.com/naresh-webdev/static-analyzer-for-analysis-of-design-pattern/blob/main/architecture-tutor-project/src/architecture_tutor/observer_detector.py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github.com/naresh-webdev/static-analyzer-for-analysis-of-design-pattern/blob/main/architecture-tutor-project/src/architecture_tutor/template_detector.py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github.com/naresh-webdev/static-analyzer-for-analysis-of-design-pattern/blob/main/architecture-tutor-project/src/architecture_tutor/strategy_detector.py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Box 9"/>
          <p:cNvSpPr/>
          <p:nvPr/>
        </p:nvSpPr>
        <p:spPr>
          <a:xfrm>
            <a:off x="3034800" y="4361760"/>
            <a:ext cx="7183800" cy="191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Team Members: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422422205007	</a:t>
            </a:r>
            <a:r>
              <a:rPr lang="en-IN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NARESH M  </a:t>
            </a:r>
            <a:r>
              <a:rPr lang="en-IN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422422205027	</a:t>
            </a:r>
            <a:r>
              <a:rPr lang="en-IN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HARIHARAN S R</a:t>
            </a:r>
            <a:r>
              <a:rPr lang="en-IN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422422205032	</a:t>
            </a:r>
            <a:r>
              <a:rPr lang="en-IN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RAKSHAYA S</a:t>
            </a:r>
            <a:r>
              <a:rPr lang="en-IN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10"/>
          <p:cNvSpPr/>
          <p:nvPr/>
        </p:nvSpPr>
        <p:spPr>
          <a:xfrm>
            <a:off x="3044520" y="3319200"/>
            <a:ext cx="256500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IN" sz="20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BATCH NO: </a:t>
            </a: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3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11"/>
          <p:cNvSpPr/>
          <p:nvPr/>
        </p:nvSpPr>
        <p:spPr>
          <a:xfrm>
            <a:off x="3034800" y="3840480"/>
            <a:ext cx="682524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IN" sz="20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SUPERVISOR: Dr. R. Shyamala, M.E.,Ph.D.,AP/IT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7" name="Picture 2"/>
          <p:cNvPicPr/>
          <p:nvPr/>
        </p:nvPicPr>
        <p:blipFill>
          <a:blip r:embed="rId2"/>
          <a:srcRect b="35466"/>
          <a:stretch/>
        </p:blipFill>
        <p:spPr>
          <a:xfrm>
            <a:off x="1583640" y="168120"/>
            <a:ext cx="1229760" cy="121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TextBox 13"/>
          <p:cNvSpPr/>
          <p:nvPr/>
        </p:nvSpPr>
        <p:spPr>
          <a:xfrm>
            <a:off x="1101240" y="2138400"/>
            <a:ext cx="10311120" cy="155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IN" sz="2400" b="1" u="none" strike="noStrike" dirty="0">
                <a:solidFill>
                  <a:schemeClr val="dk1"/>
                </a:solidFill>
                <a:effectLst/>
                <a:uFillTx/>
                <a:latin typeface="Aptos"/>
                <a:ea typeface="Noto Sans SC"/>
              </a:rPr>
              <a:t>Design and Evaluation of a Static Analyzer Based Design Pattern Analyzer for High-Level Languages </a:t>
            </a:r>
            <a:endParaRPr lang="en-I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IN" sz="2400" b="1" u="none" strike="noStrike" dirty="0">
                <a:solidFill>
                  <a:schemeClr val="dk1"/>
                </a:solidFill>
                <a:effectLst/>
                <a:uFillTx/>
                <a:latin typeface="Aptos"/>
                <a:ea typeface="Noto Sans SC"/>
              </a:rPr>
              <a:t>(Python Case Study)</a:t>
            </a:r>
            <a:endParaRPr lang="en-I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I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14"/>
          <p:cNvSpPr/>
          <p:nvPr/>
        </p:nvSpPr>
        <p:spPr>
          <a:xfrm>
            <a:off x="5612400" y="1666080"/>
            <a:ext cx="1266840" cy="45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IN" sz="2400" b="1" u="sng" strike="noStrike">
                <a:solidFill>
                  <a:schemeClr val="dk1"/>
                </a:solidFill>
                <a:effectLst/>
                <a:uFillTx/>
                <a:latin typeface="Aptos"/>
              </a:rPr>
              <a:t>TITLE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16"/>
          <p:cNvSpPr/>
          <p:nvPr/>
        </p:nvSpPr>
        <p:spPr>
          <a:xfrm>
            <a:off x="2815560" y="244800"/>
            <a:ext cx="6901560" cy="136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University College of Engineering, Tindivanam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(A Constituent College of Anna University, Chennai)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IN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Department of Information Technology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" name="Table 1"/>
          <p:cNvGraphicFramePr/>
          <p:nvPr/>
        </p:nvGraphicFramePr>
        <p:xfrm>
          <a:off x="-144000" y="14760"/>
          <a:ext cx="12330720" cy="7801440"/>
        </p:xfrm>
        <a:graphic>
          <a:graphicData uri="http://schemas.openxmlformats.org/drawingml/2006/table">
            <a:tbl>
              <a:tblPr/>
              <a:tblGrid>
                <a:gridCol w="779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2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8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7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4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507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0666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6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S.No</a:t>
                      </a:r>
                      <a:endParaRPr lang="en-IN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6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Paper (Author,Title, Journal Name,Year)</a:t>
                      </a:r>
                      <a:endParaRPr lang="en-IN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6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Key Idea / Approach</a:t>
                      </a:r>
                      <a:endParaRPr lang="en-IN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6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Advantages</a:t>
                      </a:r>
                      <a:endParaRPr lang="en-IN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6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Disadvantages</a:t>
                      </a:r>
                      <a:endParaRPr lang="en-IN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6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Evaluation Metrics</a:t>
                      </a:r>
                      <a:endParaRPr lang="en-IN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6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       Data Set</a:t>
                      </a:r>
                      <a:endParaRPr lang="en-IN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6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   (if required)</a:t>
                      </a:r>
                      <a:endParaRPr lang="en-IN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38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6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1  </a:t>
                      </a:r>
                      <a:endParaRPr lang="en-IN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just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  <a:tabLst>
                          <a:tab pos="0" algn="l"/>
                        </a:tabLst>
                      </a:pPr>
                      <a:r>
                        <a:rPr lang="en-GB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Yama:Precise Opcode-Based Data Flow Analysis for Detecting PHP Applications Vulnerabilities (2025) 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just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Performs context-sensitive interprocedural taint analysis on Zend Opcodes rather than source code. Uses a two-step approach: 1) CFG construction from jump instructions; 2) Forward data flow with type inference. 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85840" indent="-285840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High precision due to clear control flow in opcodes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85840" indent="-285840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Effective at identifying zero day vulnerabilities (38 found). 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840" indent="-285840" algn="just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Lacks </a:t>
                      </a:r>
                      <a:r>
                        <a:rPr lang="en-US" sz="15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sophisticated</a:t>
                      </a: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 constraint-solving 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just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85840" indent="-285840" algn="just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coarse granularity intaint sanitization. 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en-IN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1.True Positive Rate (99.1%) 2.Number of CVE IDs assigned (34). 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just" defTabSz="914400">
                        <a:lnSpc>
                          <a:spcPct val="100000"/>
                        </a:lnSpc>
                      </a:pP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en-GB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24 popular GitHub projects with &gt;1,000 stars (Real-world PHP apps). 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99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6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2</a:t>
                      </a:r>
                      <a:endParaRPr lang="en-IN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just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  <a:tabLst>
                          <a:tab pos="0" algn="l"/>
                        </a:tabLst>
                      </a:pPr>
                      <a:r>
                        <a:rPr lang="en-GB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ForBac: A Static Analysis Approach With Forward and Backward Analysis for Precision in Floating-Point Computations(2025)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just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Combines forward analysis (tracking error propagation) with backward analysis (calculating minimal input precision required) using Abstract Interpretation on Interval domains. 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840" indent="-28584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Dual   input: Source+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just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    bytecode    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just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    features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just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95.78%: Average accuracy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just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85840" indent="-28584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8  types: Common </a:t>
                      </a:r>
                      <a:r>
                        <a:rPr lang="en-U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vulnerabilities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just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840" indent="-285840" algn="just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Enhances precision in safety-critical Systems.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85840" indent="-285840" algn="just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Provides a scalable solution for numerical inaccuracies. 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just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just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en-IN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1.Computational overhead from iterative forward-Backward passes.</a:t>
                      </a:r>
                      <a:br>
                        <a:rPr sz="1600"/>
                      </a:b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just" defTabSz="914400">
                        <a:lnSpc>
                          <a:spcPct val="100000"/>
                        </a:lnSpc>
                      </a:pP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just" defTabSz="914400">
                        <a:lnSpc>
                          <a:spcPct val="100000"/>
                        </a:lnSpc>
                      </a:pP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en-GB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Standard numerical benchmarks: Newton Raphson, Jacobi Iteration, and PolyBench/C.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2" name="Table 1"/>
          <p:cNvGraphicFramePr/>
          <p:nvPr/>
        </p:nvGraphicFramePr>
        <p:xfrm>
          <a:off x="0" y="55800"/>
          <a:ext cx="12192120" cy="6549840"/>
        </p:xfrm>
        <a:graphic>
          <a:graphicData uri="http://schemas.openxmlformats.org/drawingml/2006/table">
            <a:tbl>
              <a:tblPr/>
              <a:tblGrid>
                <a:gridCol w="70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9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6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05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05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60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35960">
                <a:tc>
                  <a:txBody>
                    <a:bodyPr/>
                    <a:lstStyle/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3</a:t>
                      </a:r>
                      <a:endParaRPr lang="en-IN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just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  <a:tabLst>
                          <a:tab pos="0" algn="l"/>
                        </a:tabLst>
                      </a:pPr>
                      <a:r>
                        <a:rPr lang="en-GB" sz="12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The Best of Abstract Interpretations (POPL 2025) </a:t>
                      </a:r>
                      <a:endParaRPr lang="en-IN" sz="12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just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IN" sz="12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noFill/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just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en-IN" sz="12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Proposes a formal logic to define and prove "Best Correct Approximations" (</a:t>
                      </a:r>
                      <a:r>
                        <a:rPr lang="en-IN" sz="1200" b="0" u="none" strike="noStrike" dirty="0" err="1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bca</a:t>
                      </a:r>
                      <a:r>
                        <a:rPr lang="en-IN" sz="12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). Focuses on the absolute upper bound of precision for any given abstract domain. </a:t>
                      </a:r>
                      <a:endParaRPr lang="en-IN" sz="12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2F2F2"/>
                      </a:solidFill>
                      <a:prstDash val="solid"/>
                    </a:lnT>
                    <a:lnB w="12240">
                      <a:solidFill>
                        <a:srgbClr val="F2F2F2"/>
                      </a:solidFill>
                      <a:prstDash val="soli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just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85840" indent="-285840" algn="just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Provides an absolute upper bound for Precision 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just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85840" indent="-285840" algn="just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Minimizes false alarms. 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marL="285840" indent="-285840" algn="just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Theoretical complexity 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just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85840" indent="-285840" algn="just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The property of being "the best" is not naturally compositional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just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just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en-IN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1.Proof of validity for abstract triples   </a:t>
                      </a:r>
                      <a:br>
                        <a:rPr sz="1200"/>
                      </a:b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just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en-IN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2.Precision gain over non-bca methods. 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just" defTabSz="914400">
                        <a:lnSpc>
                          <a:spcPct val="100000"/>
                        </a:lnSpc>
                      </a:pP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3840">
                <a:tc>
                  <a:txBody>
                    <a:bodyPr/>
                    <a:lstStyle/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4</a:t>
                      </a:r>
                      <a:endParaRPr lang="en-IN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just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  <a:tabLst>
                          <a:tab pos="0" algn="l"/>
                        </a:tabLst>
                      </a:pPr>
                      <a:r>
                        <a:rPr lang="en-GB" sz="1200" b="0" u="none" strike="noStrike" dirty="0" err="1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CoSSJIT</a:t>
                      </a:r>
                      <a:r>
                        <a:rPr lang="en-GB" sz="12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: Combining Static Analysis and Speculation in JIT Compilers (2025) </a:t>
                      </a:r>
                      <a:endParaRPr lang="en-IN" sz="12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noFill/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Integrates expensive static points-to analysis into a JIT compiler. It "speculates" that static results remain valid at runtime, falling back only if checks fail. 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2F2F2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840" indent="-285840" algn="just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Achieves 5.7x improvement in stack allocation 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just" defTabSz="914400">
                        <a:lnSpc>
                          <a:spcPct val="100000"/>
                        </a:lnSpc>
                      </a:pP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85840" indent="-285840" algn="just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Bridges the gap between static precision and run-time specialization. 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840" indent="-285840" algn="just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.Requires modifications to production JIT compilers 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just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85840" indent="-285840" algn="just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Potential for speculation failure. 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just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en-IN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1.Performance speedup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just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en-IN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2.Stack allocation efficiency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just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en-IN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3.Functional correctness. 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just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en-GB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Production Java Virtual Machine and large-scale Java programs. 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0040">
                <a:tc>
                  <a:txBody>
                    <a:bodyPr/>
                    <a:lstStyle/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5</a:t>
                      </a:r>
                      <a:endParaRPr lang="en-IN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just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  <a:tabLst>
                          <a:tab pos="0" algn="l"/>
                        </a:tabLst>
                      </a:pPr>
                      <a:r>
                        <a:rPr lang="en-GB" sz="12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PHU+0050Joy: A Novel Extended Graph Based PHP Code Analysis Framework (2025) </a:t>
                      </a:r>
                      <a:endParaRPr lang="en-IN" sz="12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just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IN" sz="12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noFill/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Maps PHP code to an Extended Semantic Graph that merges AST, CFG, and PDG. Uses a specialized graph query framework with a high performance cache. 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840" indent="-285840" algn="just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IN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Reduces runtime analysis overhead by 76.54% 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85840" indent="-285840" algn="just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IN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Improves semantic edge discovery by 23.76%.  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just" defTabSz="914400">
                        <a:lnSpc>
                          <a:spcPct val="100000"/>
                        </a:lnSpc>
                      </a:pP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en-IN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1.Large memory footprint for storing massive semantic graphs (269M+ edges). 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just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en-IN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1.Runtime overhead reduction 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lang="en-IN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2. Semantic edge discovery rate. 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just" defTabSz="914400">
                        <a:lnSpc>
                          <a:spcPct val="100000"/>
                        </a:lnSpc>
                      </a:pP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endParaRPr lang="en-IN" sz="12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just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endParaRPr lang="en-IN" sz="12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just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en-GB" sz="12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333 popular open-source PHP programs. </a:t>
                      </a:r>
                      <a:endParaRPr lang="en-IN" sz="12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Box 2"/>
          <p:cNvSpPr/>
          <p:nvPr/>
        </p:nvSpPr>
        <p:spPr>
          <a:xfrm>
            <a:off x="510720" y="2012152"/>
            <a:ext cx="11024371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Most tools only check if Python code "runs," but they miss "hidden" structural mistakes where a developer says they are using a Design Pattern but implements it incorrectly.</a:t>
            </a: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3"/>
          <p:cNvSpPr/>
          <p:nvPr/>
        </p:nvSpPr>
        <p:spPr>
          <a:xfrm>
            <a:off x="510720" y="337360"/>
            <a:ext cx="578448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Aptos"/>
              </a:rPr>
              <a:t>Abstract</a:t>
            </a:r>
            <a:endParaRPr lang="en-I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9"/>
          <p:cNvSpPr/>
          <p:nvPr/>
        </p:nvSpPr>
        <p:spPr>
          <a:xfrm>
            <a:off x="491039" y="1537606"/>
            <a:ext cx="6091200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Aptos"/>
              </a:rPr>
              <a:t>Problem statement 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4"/>
          <p:cNvSpPr/>
          <p:nvPr/>
        </p:nvSpPr>
        <p:spPr>
          <a:xfrm>
            <a:off x="454560" y="2755030"/>
            <a:ext cx="254916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IN" sz="2000" b="1" u="none" strike="noStrike" dirty="0">
                <a:solidFill>
                  <a:schemeClr val="dk1"/>
                </a:solidFill>
                <a:effectLst/>
                <a:uFillTx/>
                <a:latin typeface="Aptos"/>
              </a:rPr>
              <a:t>Objectives 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Rectangle 7"/>
          <p:cNvSpPr/>
          <p:nvPr/>
        </p:nvSpPr>
        <p:spPr>
          <a:xfrm rot="10800000" flipV="1">
            <a:off x="57661560" y="15205680"/>
            <a:ext cx="11423160" cy="230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ctr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1. To design a sound static analysis framework for Python based on abstract interpretation.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2. To represent program behavior using abstract states that capture possible variable values and control-flow conditions.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3. To analyze loops and control-flow constructs using fixpoint computation to ensure safe and finite analysis.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4. To improve analysis precision through flow-sensitive and path-sensitive data-flow analysis while preserving soundness.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5. To implement and demonstrate a prototype static analyzer capable of detecting potential runtime errors in Python programs.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5"/>
          <p:cNvSpPr/>
          <p:nvPr/>
        </p:nvSpPr>
        <p:spPr>
          <a:xfrm>
            <a:off x="491039" y="3247591"/>
            <a:ext cx="11549200" cy="107576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285750" indent="-285750"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0000"/>
                </a:solidFill>
                <a:latin typeface="Arial"/>
              </a:rPr>
              <a:t>Deep Static Analysis: Map Python code structures without execution to identify hidden architectural flaws.</a:t>
            </a:r>
          </a:p>
          <a:p>
            <a:pPr marL="285750" indent="-285750"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0000"/>
                </a:solidFill>
                <a:latin typeface="Arial"/>
              </a:rPr>
              <a:t>Structural Verification: Ensure strict adherence to formal patterns (Singleton, Factory, Observer).</a:t>
            </a:r>
          </a:p>
          <a:p>
            <a:pPr marL="285750" indent="-285750"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0000"/>
                </a:solidFill>
                <a:latin typeface="Arial"/>
              </a:rPr>
              <a:t>Quality Quantification: Generate a Global Design Quality Index (GDQI) to grade architectural integrity.</a:t>
            </a: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3E0DFF-F2D0-DB88-BEEB-F066DE0196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60" y="-62506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Deep Static Analysis: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Map Python code structures without execution to identify hidden architectural flaws.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Structural Verification: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Ensure strict adherence to formal patterns (Singleton, Factory, Observer).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Quality Quantification: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Generate a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Global Design Quality Index (GDQI)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grade architectural integrity.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8CC3A8CD-4B0B-460B-155E-B90060C65F13}"/>
              </a:ext>
            </a:extLst>
          </p:cNvPr>
          <p:cNvSpPr/>
          <p:nvPr/>
        </p:nvSpPr>
        <p:spPr>
          <a:xfrm>
            <a:off x="510720" y="4373949"/>
            <a:ext cx="2549160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IN" sz="2000" b="1" u="none" strike="noStrike" dirty="0">
                <a:solidFill>
                  <a:schemeClr val="dk1"/>
                </a:solidFill>
                <a:effectLst/>
                <a:uFillTx/>
                <a:latin typeface="Aptos"/>
              </a:rPr>
              <a:t>Proposed Solution 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D57BEA-4E42-C498-3D42-EB663C459971}"/>
              </a:ext>
            </a:extLst>
          </p:cNvPr>
          <p:cNvSpPr/>
          <p:nvPr/>
        </p:nvSpPr>
        <p:spPr>
          <a:xfrm>
            <a:off x="454560" y="4873793"/>
            <a:ext cx="11681280" cy="190676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750" indent="-285750"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Arial"/>
              </a:rPr>
              <a:t>Semantic Graph Extraction: Leveraging the Scalpel framework to generate high-fidelity Intermediate Representations, including AST (Abstract Syntax Trees) and CFG (Control Flow Graphs).</a:t>
            </a:r>
          </a:p>
          <a:p>
            <a:pPr marL="285750" indent="-285750"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Arial"/>
              </a:rPr>
              <a:t>Heuristic Inference Engine: A rule-based system that correlates semantic graphs against formal design constraints to verify structural soundness.</a:t>
            </a:r>
          </a:p>
          <a:p>
            <a:pPr marL="285750" indent="-285750"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Arial"/>
              </a:rPr>
              <a:t>Erosion Detection: Identifying "shallow" implementations where code is syntactically functional but architecturally unsound.</a:t>
            </a: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A511EAA5-C89C-C75A-BA45-161F8939D1AB}"/>
              </a:ext>
            </a:extLst>
          </p:cNvPr>
          <p:cNvSpPr/>
          <p:nvPr/>
        </p:nvSpPr>
        <p:spPr>
          <a:xfrm>
            <a:off x="510720" y="976850"/>
            <a:ext cx="6915012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cs typeface="Times New Roman" panose="02020603050405020304" pitchFamily="18" charset="0"/>
              </a:rPr>
              <a:t>Domain/ Area</a:t>
            </a:r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dk1"/>
                </a:solidFill>
                <a:cs typeface="Times New Roman" panose="02020603050405020304" pitchFamily="18" charset="0"/>
              </a:rPr>
              <a:t>Compiler Design, Static Analysis</a:t>
            </a:r>
            <a:endParaRPr lang="en-IN" sz="2400" b="0" u="none" strike="noStrike" dirty="0">
              <a:solidFill>
                <a:srgbClr val="000000"/>
              </a:solidFill>
              <a:effectLst/>
              <a:uFillTx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808CD-8376-EA50-99F5-47B96C716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Box 4">
            <a:extLst>
              <a:ext uri="{FF2B5EF4-FFF2-40B4-BE49-F238E27FC236}">
                <a16:creationId xmlns:a16="http://schemas.microsoft.com/office/drawing/2014/main" id="{603CC5F7-1E7D-165B-D971-2CF46CA74A56}"/>
              </a:ext>
            </a:extLst>
          </p:cNvPr>
          <p:cNvSpPr/>
          <p:nvPr/>
        </p:nvSpPr>
        <p:spPr>
          <a:xfrm>
            <a:off x="2821840" y="186118"/>
            <a:ext cx="7035592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en-IN" sz="2400" b="1" u="none" strike="noStrike" dirty="0">
                <a:solidFill>
                  <a:schemeClr val="dk1"/>
                </a:solidFill>
                <a:effectLst/>
                <a:uFillTx/>
                <a:latin typeface="Aptos"/>
              </a:rPr>
              <a:t>Operational </a:t>
            </a:r>
            <a:r>
              <a:rPr lang="en-IN" sz="2400" b="1" dirty="0"/>
              <a:t>Feasibility &amp; Technical Feasibility</a:t>
            </a:r>
            <a:r>
              <a:rPr lang="en-IN" sz="2400" b="1" u="none" strike="noStrike" dirty="0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endParaRPr lang="en-I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Rectangle 7">
            <a:extLst>
              <a:ext uri="{FF2B5EF4-FFF2-40B4-BE49-F238E27FC236}">
                <a16:creationId xmlns:a16="http://schemas.microsoft.com/office/drawing/2014/main" id="{23FFF7E1-CB31-9DBC-7DF0-80AD1773EC8B}"/>
              </a:ext>
            </a:extLst>
          </p:cNvPr>
          <p:cNvSpPr/>
          <p:nvPr/>
        </p:nvSpPr>
        <p:spPr>
          <a:xfrm rot="10800000" flipV="1">
            <a:off x="57661560" y="15205680"/>
            <a:ext cx="11423160" cy="230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ctr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1. To design a sound static analysis framework for Python based on abstract interpretation.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2. To represent program behavior using abstract states that capture possible variable values and control-flow conditions.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3. To analyze loops and control-flow constructs using fixpoint computation to ensure safe and finite analysis.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4. To improve analysis precision through flow-sensitive and path-sensitive data-flow analysis while preserving soundness.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5. To implement and demonstrate a prototype static analyzer capable of detecting potential runtime errors in Python programs.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5">
            <a:extLst>
              <a:ext uri="{FF2B5EF4-FFF2-40B4-BE49-F238E27FC236}">
                <a16:creationId xmlns:a16="http://schemas.microsoft.com/office/drawing/2014/main" id="{9B0561C6-5C38-894D-F157-473FBF41C93D}"/>
              </a:ext>
            </a:extLst>
          </p:cNvPr>
          <p:cNvSpPr/>
          <p:nvPr/>
        </p:nvSpPr>
        <p:spPr>
          <a:xfrm>
            <a:off x="510718" y="1122546"/>
            <a:ext cx="11426724" cy="241459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IN" b="1" dirty="0">
                <a:solidFill>
                  <a:srgbClr val="000000"/>
                </a:solidFill>
                <a:latin typeface="Arial"/>
              </a:rPr>
              <a:t>Operating System</a:t>
            </a:r>
            <a:r>
              <a:rPr lang="en-IN" dirty="0">
                <a:solidFill>
                  <a:srgbClr val="000000"/>
                </a:solidFill>
                <a:latin typeface="Arial"/>
              </a:rPr>
              <a:t>: Windows 10/11 or Linux (Ubuntu 20.04+). Linux is preferred for better regex and file system handling.</a:t>
            </a:r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IN" b="1" dirty="0">
                <a:solidFill>
                  <a:srgbClr val="000000"/>
                </a:solidFill>
                <a:latin typeface="Arial"/>
              </a:rPr>
              <a:t>Programming Language</a:t>
            </a:r>
            <a:r>
              <a:rPr lang="en-IN" dirty="0">
                <a:solidFill>
                  <a:srgbClr val="000000"/>
                </a:solidFill>
                <a:latin typeface="Arial"/>
              </a:rPr>
              <a:t>: Python 3.9+. (Chosen for its robust AST libraries and rapid prototyping capabilities).</a:t>
            </a:r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IN" b="1" dirty="0">
                <a:solidFill>
                  <a:srgbClr val="000000"/>
                </a:solidFill>
                <a:latin typeface="Arial"/>
              </a:rPr>
              <a:t>Libraries/Frameworks</a:t>
            </a:r>
            <a:r>
              <a:rPr lang="en-IN" dirty="0">
                <a:solidFill>
                  <a:srgbClr val="000000"/>
                </a:solidFill>
                <a:latin typeface="Arial"/>
              </a:rPr>
              <a:t>:</a:t>
            </a:r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IN" b="1" dirty="0">
                <a:solidFill>
                  <a:srgbClr val="000000"/>
                </a:solidFill>
                <a:latin typeface="Arial"/>
              </a:rPr>
              <a:t>     </a:t>
            </a:r>
            <a:r>
              <a:rPr lang="en-IN" b="1" dirty="0" err="1">
                <a:solidFill>
                  <a:srgbClr val="000000"/>
                </a:solidFill>
                <a:latin typeface="Arial"/>
              </a:rPr>
              <a:t>ast</a:t>
            </a:r>
            <a:r>
              <a:rPr lang="en-IN" dirty="0">
                <a:solidFill>
                  <a:srgbClr val="000000"/>
                </a:solidFill>
                <a:latin typeface="Arial"/>
              </a:rPr>
              <a:t> : For parsing source code into tree structures.</a:t>
            </a:r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IN" b="1" dirty="0">
                <a:solidFill>
                  <a:srgbClr val="000000"/>
                </a:solidFill>
                <a:latin typeface="Arial"/>
              </a:rPr>
              <a:t>     </a:t>
            </a:r>
            <a:r>
              <a:rPr lang="en-IN" b="1" dirty="0" err="1">
                <a:solidFill>
                  <a:srgbClr val="000000"/>
                </a:solidFill>
                <a:latin typeface="Arial"/>
              </a:rPr>
              <a:t>Graphviz</a:t>
            </a:r>
            <a:r>
              <a:rPr lang="en-IN" dirty="0">
                <a:solidFill>
                  <a:srgbClr val="000000"/>
                </a:solidFill>
                <a:latin typeface="Arial"/>
              </a:rPr>
              <a:t>: For generating visual representations of the DFD and pattern structures.</a:t>
            </a:r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IN" b="1" dirty="0">
                <a:solidFill>
                  <a:srgbClr val="000000"/>
                </a:solidFill>
                <a:latin typeface="Arial"/>
              </a:rPr>
              <a:t>     IDE</a:t>
            </a:r>
            <a:r>
              <a:rPr lang="en-IN" dirty="0">
                <a:solidFill>
                  <a:srgbClr val="000000"/>
                </a:solidFill>
                <a:latin typeface="Arial"/>
              </a:rPr>
              <a:t>: VS Code or PyCharm (integrated with debugging tools for tree traversal).</a:t>
            </a: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EAAF12-0270-6F12-6C2B-79115F3A53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60" y="-62506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Deep Static Analysis: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Map Python code structures without execution to identify hidden architectural flaws.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Structural Verification: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Ensure strict adherence to formal patterns (Singleton, Factory, Observer).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Quality Quantification: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Generate a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Global Design Quality Index (GDQI)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grade architectural integrity.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C93113D-CE60-3C3C-10F8-66828E8EF5FA}"/>
              </a:ext>
            </a:extLst>
          </p:cNvPr>
          <p:cNvSpPr/>
          <p:nvPr/>
        </p:nvSpPr>
        <p:spPr>
          <a:xfrm>
            <a:off x="510719" y="646329"/>
            <a:ext cx="3237315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en-IN" sz="2000" b="1" dirty="0"/>
              <a:t>1. Software Requirements</a:t>
            </a:r>
            <a:endParaRPr lang="en-IN" sz="20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CCE746-8417-5502-7457-C90517EA01A1}"/>
              </a:ext>
            </a:extLst>
          </p:cNvPr>
          <p:cNvSpPr/>
          <p:nvPr/>
        </p:nvSpPr>
        <p:spPr>
          <a:xfrm>
            <a:off x="510720" y="4090917"/>
            <a:ext cx="11426722" cy="198370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b="1" dirty="0">
                <a:solidFill>
                  <a:srgbClr val="000000"/>
                </a:solidFill>
                <a:latin typeface="Arial"/>
              </a:rPr>
              <a:t>     Processor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: Intel Core i5 or AMD Ryzen 5 (Minimum 11th Gen). Required for efficient AST generation and    	           pattern matching.</a:t>
            </a:r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b="1" dirty="0">
                <a:solidFill>
                  <a:srgbClr val="000000"/>
                </a:solidFill>
                <a:latin typeface="Arial"/>
              </a:rPr>
              <a:t>     RAM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: 8 GB (16 GB Recommended). Necessary to hold large code-graphs in memory during the analysis                	 phase.</a:t>
            </a:r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b="1" dirty="0">
                <a:solidFill>
                  <a:srgbClr val="000000"/>
                </a:solidFill>
                <a:latin typeface="Arial"/>
              </a:rPr>
              <a:t>     Storage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: 256 GB SSD. SSD is critical for fast I/O when reading large source code directories.</a:t>
            </a:r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b="1" dirty="0">
                <a:solidFill>
                  <a:srgbClr val="000000"/>
                </a:solidFill>
                <a:latin typeface="Arial"/>
              </a:rPr>
              <a:t>     GPU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: Not required</a:t>
            </a: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E52ABC3C-E72A-C051-0058-FD97110A4180}"/>
              </a:ext>
            </a:extLst>
          </p:cNvPr>
          <p:cNvSpPr/>
          <p:nvPr/>
        </p:nvSpPr>
        <p:spPr>
          <a:xfrm>
            <a:off x="510718" y="3568573"/>
            <a:ext cx="4000991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en-IN" sz="2000" b="1" dirty="0"/>
              <a:t>2. Hardware Requirements</a:t>
            </a:r>
            <a:endParaRPr lang="en-IN" sz="20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33326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AD3BC-A459-5BED-BBDC-BBAD40451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B3C7969-2E99-5252-9F12-4387DF035C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843" y="764498"/>
            <a:ext cx="11752288" cy="590300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2F29B67-9DAE-75E1-83D1-8CE57510D95E}"/>
              </a:ext>
            </a:extLst>
          </p:cNvPr>
          <p:cNvSpPr txBox="1"/>
          <p:nvPr/>
        </p:nvSpPr>
        <p:spPr>
          <a:xfrm>
            <a:off x="3046751" y="242159"/>
            <a:ext cx="60935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IN" sz="24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System Architecture</a:t>
            </a:r>
            <a:r>
              <a:rPr lang="en-IN" sz="2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27608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40EA5-A04B-7BB4-8CDD-B2A7190F4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itle 1"/>
          <p:cNvSpPr/>
          <p:nvPr/>
        </p:nvSpPr>
        <p:spPr>
          <a:xfrm>
            <a:off x="4137120" y="87480"/>
            <a:ext cx="10513800" cy="82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200" b="1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List of Modules</a:t>
            </a:r>
            <a:endParaRPr lang="en-IN" sz="32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" name="Content Placeholder 2"/>
          <p:cNvSpPr/>
          <p:nvPr/>
        </p:nvSpPr>
        <p:spPr>
          <a:xfrm>
            <a:off x="142240" y="908640"/>
            <a:ext cx="11917400" cy="594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457200" indent="-4572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Calibri Light"/>
              <a:buAutoNum type="arabicPeriod"/>
            </a:pPr>
            <a:r>
              <a:rPr lang="en-US" sz="2600" b="1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Module 1:</a:t>
            </a:r>
            <a: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Data Acquisition &amp; Preprocessing:</a:t>
            </a:r>
            <a: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</a:t>
            </a: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Scanning the project folder to find and prepare .</a:t>
            </a:r>
            <a:r>
              <a:rPr lang="en-US" sz="2400" b="0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py</a:t>
            </a: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files for analysis </a:t>
            </a: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.</a:t>
            </a:r>
            <a:endParaRPr lang="en-IN" sz="2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Calibri Light"/>
              <a:buAutoNum type="arabicPeriod"/>
            </a:pPr>
            <a:r>
              <a:rPr lang="en-US" sz="2600" b="1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Module 2:</a:t>
            </a:r>
            <a: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Scalpel Integration &amp; Graph Construction:</a:t>
            </a:r>
            <a: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</a:t>
            </a: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Using the Scalpel library to turn raw code into a "logic map" (AST and CFG) </a:t>
            </a:r>
            <a: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sz="26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Calibri Light"/>
              <a:buAutoNum type="arabicPeriod"/>
            </a:pPr>
            <a:r>
              <a:rPr lang="en-US" sz="2600" b="1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Module 3:</a:t>
            </a:r>
            <a: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Pattern Intelligence &amp; Rule Engine:                                                              </a:t>
            </a: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The core analytical module responsible for matching enriched structural graphs against codified design standards using fixpoint computation. </a:t>
            </a:r>
            <a:endParaRPr lang="en-IN" sz="26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defTabSz="9144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Calibri Light"/>
              <a:buAutoNum type="arabicPeriod"/>
            </a:pPr>
            <a:r>
              <a:rPr lang="en-US" sz="2600" b="1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Module 4:</a:t>
            </a:r>
            <a: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Quality Evaluation &amp; Reporting:</a:t>
            </a:r>
          </a:p>
          <a:p>
            <a:pPr>
              <a:spcAft>
                <a:spcPts val="992"/>
              </a:spcAft>
              <a:buClr>
                <a:srgbClr val="000000"/>
              </a:buClr>
            </a:pPr>
            <a:r>
              <a:rPr lang="en-US" sz="26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US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Translating raw detection metrics into actionable insights through weighted scoring and comprehensive reporting</a:t>
            </a:r>
            <a:endParaRPr lang="en-IN" sz="26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</a:pPr>
            <a:endParaRPr lang="en-IN" sz="26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9273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B9345-B8B5-AE2B-7133-684091122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472364" y="502742"/>
            <a:ext cx="10882800" cy="43088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IN" sz="2800" b="1" dirty="0"/>
              <a:t>Vector-Based Detection Framework</a:t>
            </a:r>
            <a:endParaRPr lang="en-IN" sz="26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10B4F8-60C8-4AE4-0753-5146412E382F}"/>
              </a:ext>
            </a:extLst>
          </p:cNvPr>
          <p:cNvSpPr txBox="1"/>
          <p:nvPr/>
        </p:nvSpPr>
        <p:spPr>
          <a:xfrm>
            <a:off x="717754" y="1061501"/>
            <a:ext cx="10756491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Multi-Modal Graph Generation: Converts raw Python source code into Abstract Syntax Trees (AST) for structural mapping and Control Flow Graphs (CFG) for execution path validation.</a:t>
            </a:r>
          </a:p>
          <a:p>
            <a:pPr marL="342900" indent="-342900">
              <a:buAutoNum type="arabicPeriod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Feature Vectorization: Deploys the 5 specialized detectors to evaluate the AST/CFG. Instead of returning binary true/false flags, it generates a composite Feature Vector 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V_target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 representing structural traits (e.g., polymorphism, gateways, registries).</a:t>
            </a:r>
          </a:p>
          <a:p>
            <a:pPr marL="342900" indent="-342900">
              <a:buAutoNum type="arabicPeriod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Archetype Matching (Cosine Similarity): Overcomes brittle rule-matching by calculating the geometric similarity between the extracted vector 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V_target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 and an ideal pattern archetype vector 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V_ideal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342900" indent="-342900">
              <a:buAutoNum type="arabicPeriod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GDQI Aggregation: Computes the overall architectural health by aggregating the continuous pattern scores applying algorithmic confidence weights.</a:t>
            </a:r>
          </a:p>
          <a:p>
            <a:pPr marL="342900" indent="-342900">
              <a:buAutoNum type="arabicPeriod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67390D-60D4-E4B1-A03E-B6924867D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5461" y="4013872"/>
            <a:ext cx="4110392" cy="73510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09BC3AD-60FA-07C5-130D-E69574E4AD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5461" y="5672007"/>
            <a:ext cx="5663404" cy="775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667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34E45-1A1A-9C36-C5CD-1FF780AE0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>
            <a:extLst>
              <a:ext uri="{FF2B5EF4-FFF2-40B4-BE49-F238E27FC236}">
                <a16:creationId xmlns:a16="http://schemas.microsoft.com/office/drawing/2014/main" id="{0F6C5275-DB27-238A-AE5F-CBCF264AB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122" y="231934"/>
            <a:ext cx="10804557" cy="3693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spAutoFit/>
          </a:bodyPr>
          <a:lstStyle/>
          <a:p>
            <a:pPr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IN" sz="24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Singleton Algorithm</a:t>
            </a:r>
            <a:endParaRPr lang="en-I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E548D2-7984-34DD-D079-83BC5534FA33}"/>
              </a:ext>
            </a:extLst>
          </p:cNvPr>
          <p:cNvSpPr txBox="1"/>
          <p:nvPr/>
        </p:nvSpPr>
        <p:spPr>
          <a:xfrm>
            <a:off x="403122" y="825527"/>
            <a:ext cx="1107112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Description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dirty="0"/>
              <a:t>Analyzes the Abstract Syntax Tree (AST) for restricted instance variables and traverses the Control Flow Graph (CFG) to mathematically verify branch divergence (instantiation vs. bypass paths).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dirty="0"/>
              <a:t>Source Code File (Parsed into AST and Scalpel CFG).</a:t>
            </a:r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AST Gateway Validation: Scan the AST to identify class-level variables initialized to None and isolate control methods (__new__ or @classmethod).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CFG Matrix Construction: Convert the Scalpel CFG into an Adjacency Matrix, specifically tagging nodes that contain conditions, assignments, or returns involving the tracked variable.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Path Traversal (Branch Divergence): Traverse the adjacency matrix to verify two strict routes: an Instantiation Path (Condition -&gt; Assignment -&gt; Return) and a Bypass Path (Condition -&gt; Return without assignment).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Vector Assembly: If both paths are verified, compile the structural data into a feature vector, evaluating strength based on the control method used.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dirty="0"/>
              <a:t>A 4x1 </a:t>
            </a:r>
            <a:r>
              <a:rPr lang="en-US" dirty="0" err="1"/>
              <a:t>numpy</a:t>
            </a:r>
            <a:r>
              <a:rPr lang="en-US" dirty="0"/>
              <a:t> Feature Column Matrix (representing [Gateway, </a:t>
            </a:r>
            <a:r>
              <a:rPr lang="en-US" dirty="0" err="1"/>
              <a:t>Divergent_Paths</a:t>
            </a:r>
            <a:r>
              <a:rPr lang="en-US" dirty="0"/>
              <a:t>, </a:t>
            </a:r>
            <a:r>
              <a:rPr lang="en-US" dirty="0" err="1"/>
              <a:t>Safe_Return</a:t>
            </a:r>
            <a:r>
              <a:rPr lang="en-US" dirty="0"/>
              <a:t>, </a:t>
            </a:r>
            <a:r>
              <a:rPr lang="en-US" dirty="0" err="1"/>
              <a:t>Enterprise_Strength</a:t>
            </a:r>
            <a:r>
              <a:rPr lang="en-US" dirty="0"/>
              <a:t>]) alongside verification evidence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7464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6BCEC-4AC9-627C-6667-B8AB4DFEA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0882800" cy="1303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IN" sz="3600" b="0" u="none" strike="noStrike" dirty="0">
                <a:solidFill>
                  <a:schemeClr val="dk1"/>
                </a:solidFill>
                <a:effectLst/>
                <a:uFillTx/>
                <a:latin typeface="Aptos Display"/>
              </a:rPr>
              <a:t>   Module Implementation</a:t>
            </a:r>
            <a:endParaRPr lang="en-IN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3"/>
          <p:cNvSpPr/>
          <p:nvPr/>
        </p:nvSpPr>
        <p:spPr>
          <a:xfrm>
            <a:off x="288720" y="1120320"/>
            <a:ext cx="2260440" cy="36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IN" sz="1800" b="0" u="none" strike="noStrike" dirty="0">
                <a:solidFill>
                  <a:schemeClr val="dk1"/>
                </a:solidFill>
                <a:effectLst/>
                <a:uFillTx/>
                <a:latin typeface="Aptos"/>
              </a:rPr>
              <a:t>Singleton Detector</a:t>
            </a: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8"/>
          <p:cNvSpPr/>
          <p:nvPr/>
        </p:nvSpPr>
        <p:spPr>
          <a:xfrm>
            <a:off x="589320" y="1717200"/>
            <a:ext cx="11195280" cy="9218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IN" sz="1800" b="0" u="none" strike="noStrike" dirty="0">
                <a:solidFill>
                  <a:schemeClr val="dk1"/>
                </a:solidFill>
                <a:effectLst/>
                <a:uFillTx/>
                <a:latin typeface="Aptos"/>
              </a:rPr>
              <a:t>Source Code : </a:t>
            </a:r>
            <a:r>
              <a:rPr lang="en-IN" dirty="0">
                <a:hlinkClick r:id="rId2"/>
              </a:rPr>
              <a:t>static-analyzer-for-analysis-of-design-pattern/architecture-tutor-project/src/architecture_tutor/singleton_detector.py at main · </a:t>
            </a:r>
            <a:r>
              <a:rPr lang="en-IN" dirty="0" err="1">
                <a:hlinkClick r:id="rId2"/>
              </a:rPr>
              <a:t>naresh-webdev</a:t>
            </a:r>
            <a:r>
              <a:rPr lang="en-IN" dirty="0">
                <a:hlinkClick r:id="rId2"/>
              </a:rPr>
              <a:t>/static-</a:t>
            </a:r>
            <a:r>
              <a:rPr lang="en-IN" dirty="0" err="1">
                <a:hlinkClick r:id="rId2"/>
              </a:rPr>
              <a:t>analyzer</a:t>
            </a:r>
            <a:r>
              <a:rPr lang="en-IN" dirty="0">
                <a:hlinkClick r:id="rId2"/>
              </a:rPr>
              <a:t>-for-analysis-of-design-pattern</a:t>
            </a: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2" name="Picture 10"/>
          <p:cNvPicPr/>
          <p:nvPr/>
        </p:nvPicPr>
        <p:blipFill>
          <a:blip r:embed="rId3"/>
          <a:stretch/>
        </p:blipFill>
        <p:spPr>
          <a:xfrm>
            <a:off x="360000" y="3441876"/>
            <a:ext cx="5373720" cy="2607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3" name="Picture 14"/>
          <p:cNvPicPr/>
          <p:nvPr/>
        </p:nvPicPr>
        <p:blipFill>
          <a:blip r:embed="rId4"/>
          <a:stretch/>
        </p:blipFill>
        <p:spPr>
          <a:xfrm>
            <a:off x="6095880" y="3444840"/>
            <a:ext cx="5927760" cy="195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Rectangle 133"/>
          <p:cNvSpPr/>
          <p:nvPr/>
        </p:nvSpPr>
        <p:spPr>
          <a:xfrm>
            <a:off x="360000" y="2520000"/>
            <a:ext cx="11519640" cy="657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The Singleton confirms that only one instance can exist by verifying the __new__ method logic in the AST.</a:t>
            </a:r>
          </a:p>
        </p:txBody>
      </p:sp>
    </p:spTree>
    <p:extLst>
      <p:ext uri="{BB962C8B-B14F-4D97-AF65-F5344CB8AC3E}">
        <p14:creationId xmlns:p14="http://schemas.microsoft.com/office/powerpoint/2010/main" val="5807228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A43FB-5020-15BC-054E-2B09F00B4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>
            <a:extLst>
              <a:ext uri="{FF2B5EF4-FFF2-40B4-BE49-F238E27FC236}">
                <a16:creationId xmlns:a16="http://schemas.microsoft.com/office/drawing/2014/main" id="{2B319156-AF88-18B7-98F2-AB3C12B66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122" y="231934"/>
            <a:ext cx="10804557" cy="3693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IN" sz="2400" b="1" dirty="0">
                <a:solidFill>
                  <a:schemeClr val="dk1"/>
                </a:solidFill>
                <a:latin typeface="Aptos"/>
              </a:rPr>
              <a:t>Factory</a:t>
            </a:r>
            <a:r>
              <a:rPr lang="en-IN" sz="24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Algorithm</a:t>
            </a:r>
            <a:endParaRPr lang="en-I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303B11-1C4B-8625-E136-70E250E1539C}"/>
              </a:ext>
            </a:extLst>
          </p:cNvPr>
          <p:cNvSpPr txBox="1"/>
          <p:nvPr/>
        </p:nvSpPr>
        <p:spPr>
          <a:xfrm>
            <a:off x="403122" y="825527"/>
            <a:ext cx="11071123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Description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dirty="0"/>
              <a:t>Evaluates the Abstract Syntax Tree (AST) hierarchically to detect object creation delegation through polymorphic interfaces, dictionary registries, or conditional branching.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dirty="0"/>
              <a:t>Source Code File (Parsed into AST).</a:t>
            </a:r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True Factory Validation (Strongest): Traverse the AST to identify abstract base classes (ABC) containing @abstractmethod decorators, verifying that multiple concrete subclasses override the method to return specific instances.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Registry Factory Check (Medium): If no abstract interface exists, scan for dictionary assignments (class or instance variables) mapping keys to object types, followed by a method executing a subscript lookup and instantiation.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Simple Factory Fallback (Weakest): If no registry is found, inspect methods for parameterized inputs driving if/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elif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control flows that yield multiple distinct object types.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Vector Assembly: Classify the detected architecture based on the highest matched variant and generate the corresponding matrix flags.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dirty="0"/>
              <a:t>A 4x1 </a:t>
            </a:r>
            <a:r>
              <a:rPr lang="en-US" dirty="0" err="1"/>
              <a:t>numpy</a:t>
            </a:r>
            <a:r>
              <a:rPr lang="en-US" dirty="0"/>
              <a:t> Feature Column Matrix representing [Gateway, Parameterization, Registry, Polymorphism], accompanied by architectural evidence and refactoring suggestions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38729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3F4C8-18A8-140E-A618-60B35FFB0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0882800" cy="1303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IN" sz="3600" b="0" u="none" strike="noStrike" dirty="0">
                <a:solidFill>
                  <a:schemeClr val="dk1"/>
                </a:solidFill>
                <a:effectLst/>
                <a:uFillTx/>
                <a:latin typeface="Aptos Display"/>
              </a:rPr>
              <a:t>   Module Implementation</a:t>
            </a:r>
            <a:endParaRPr lang="en-IN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3"/>
          <p:cNvSpPr/>
          <p:nvPr/>
        </p:nvSpPr>
        <p:spPr>
          <a:xfrm>
            <a:off x="288720" y="1120320"/>
            <a:ext cx="2260440" cy="36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IN" sz="1800" b="0" u="none" strike="noStrike" dirty="0">
                <a:solidFill>
                  <a:schemeClr val="dk1"/>
                </a:solidFill>
                <a:effectLst/>
                <a:uFillTx/>
                <a:latin typeface="Aptos"/>
              </a:rPr>
              <a:t>Factory Detector</a:t>
            </a: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8"/>
          <p:cNvSpPr/>
          <p:nvPr/>
        </p:nvSpPr>
        <p:spPr>
          <a:xfrm>
            <a:off x="522180" y="1488600"/>
            <a:ext cx="11195280" cy="9218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IN" sz="1800" b="0" u="none" strike="noStrike" dirty="0">
                <a:solidFill>
                  <a:schemeClr val="dk1"/>
                </a:solidFill>
                <a:effectLst/>
                <a:uFillTx/>
                <a:latin typeface="Aptos"/>
              </a:rPr>
              <a:t>Source Code : </a:t>
            </a:r>
            <a:r>
              <a:rPr lang="en-US" dirty="0">
                <a:hlinkClick r:id="rId2"/>
              </a:rPr>
              <a:t>static-analyzer-for-analysis-of-design-pattern/architecture-tutor-project/src/architecture_tutor/factory_detector.py at main · </a:t>
            </a:r>
            <a:r>
              <a:rPr lang="en-US" dirty="0" err="1">
                <a:hlinkClick r:id="rId2"/>
              </a:rPr>
              <a:t>naresh-webdev</a:t>
            </a:r>
            <a:r>
              <a:rPr lang="en-US" dirty="0">
                <a:hlinkClick r:id="rId2"/>
              </a:rPr>
              <a:t>/static-analyzer-for-analysis-of-design-pattern</a:t>
            </a: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8" name="Picture 4"/>
          <p:cNvPicPr/>
          <p:nvPr/>
        </p:nvPicPr>
        <p:blipFill>
          <a:blip r:embed="rId3"/>
          <a:stretch/>
        </p:blipFill>
        <p:spPr>
          <a:xfrm>
            <a:off x="864120" y="3121920"/>
            <a:ext cx="4291560" cy="3569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9" name="Picture 6"/>
          <p:cNvPicPr/>
          <p:nvPr/>
        </p:nvPicPr>
        <p:blipFill>
          <a:blip r:embed="rId4"/>
          <a:stretch/>
        </p:blipFill>
        <p:spPr>
          <a:xfrm>
            <a:off x="6096000" y="3121920"/>
            <a:ext cx="5231880" cy="288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0" name="Rectangle 139"/>
          <p:cNvSpPr/>
          <p:nvPr/>
        </p:nvSpPr>
        <p:spPr>
          <a:xfrm>
            <a:off x="312360" y="2204480"/>
            <a:ext cx="1187964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The Factory identifies the </a:t>
            </a:r>
            <a:r>
              <a:rPr lang="en-IN" sz="18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create_vehicle</a:t>
            </a:r>
            <a:r>
              <a:rPr lang="en-IN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method and verifies it returns the correct object types (Truck, Car, Bike) </a:t>
            </a:r>
          </a:p>
        </p:txBody>
      </p:sp>
    </p:spTree>
    <p:extLst>
      <p:ext uri="{BB962C8B-B14F-4D97-AF65-F5344CB8AC3E}">
        <p14:creationId xmlns:p14="http://schemas.microsoft.com/office/powerpoint/2010/main" val="36512537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916B8-D96F-8056-BD6F-ADF553F2B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>
            <a:extLst>
              <a:ext uri="{FF2B5EF4-FFF2-40B4-BE49-F238E27FC236}">
                <a16:creationId xmlns:a16="http://schemas.microsoft.com/office/drawing/2014/main" id="{0F9BA697-4BDB-34E0-EB35-590577A5D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122" y="231934"/>
            <a:ext cx="10804557" cy="3693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IN" sz="2400" b="1" dirty="0">
                <a:solidFill>
                  <a:schemeClr val="dk1"/>
                </a:solidFill>
                <a:latin typeface="Aptos"/>
              </a:rPr>
              <a:t>Observer</a:t>
            </a:r>
            <a:r>
              <a:rPr lang="en-IN" sz="24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Algorithm</a:t>
            </a:r>
            <a:endParaRPr lang="en-I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DAECCB-9CCA-04C6-2BDB-5ADF3E78F5AF}"/>
              </a:ext>
            </a:extLst>
          </p:cNvPr>
          <p:cNvSpPr txBox="1"/>
          <p:nvPr/>
        </p:nvSpPr>
        <p:spPr>
          <a:xfrm>
            <a:off x="403122" y="825527"/>
            <a:ext cx="11071123" cy="584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Description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dirty="0"/>
              <a:t>Identifies event-driven publisher-subscriber architectures by tracking collection initializations, detecting loop-based broadcast delegations, and using Control Flow Graphs (CFG) to mathematically verify listener execution paths.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dirty="0"/>
              <a:t>Source Code File (Parsed into AST and Scalpel CFG).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State Tracking (Gateway): Scan __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init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__ methods within the AST to locate lists or sets initialized specifically to store object references.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Registration Mapping: Identify class methods that actively append or add external objects to the tracked collection.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Broadcast Detection: Locate methods containing for loops that iterate over the collection and dynamically discover the target trigger method (e.g.,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obj.update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()) invoked on the items.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Listener Ecosystem Verification: Traverse the rest of the AST to confirm that other classes actually implement the dynamically discovered trigger method.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Execution Proof: Analyze the Scalpel CFG to mathematically prove a valid execution path exists that guarantees the invocation of the target method.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dirty="0"/>
              <a:t>A 5x1 </a:t>
            </a:r>
            <a:r>
              <a:rPr lang="en-US" dirty="0" err="1"/>
              <a:t>numpy</a:t>
            </a:r>
            <a:r>
              <a:rPr lang="en-US" dirty="0"/>
              <a:t> Feature Column Matrix representing [Gateway, Registration, Broadcast, Listeners, </a:t>
            </a:r>
            <a:r>
              <a:rPr lang="en-US" dirty="0" err="1"/>
              <a:t>CFG_Proof</a:t>
            </a:r>
            <a:r>
              <a:rPr lang="en-US" dirty="0"/>
              <a:t>], accompanied by architectural evidence and ecosystem suggestions.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21069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48E0D-4735-1D41-996B-5C1C19AAB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>
            <a:extLst>
              <a:ext uri="{FF2B5EF4-FFF2-40B4-BE49-F238E27FC236}">
                <a16:creationId xmlns:a16="http://schemas.microsoft.com/office/drawing/2014/main" id="{D20853E9-E1AB-814B-F0B7-7380D41AC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882800" cy="1303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IN" sz="3600" b="0" u="none" strike="noStrike" dirty="0">
                <a:solidFill>
                  <a:schemeClr val="dk1"/>
                </a:solidFill>
                <a:effectLst/>
                <a:uFillTx/>
                <a:latin typeface="Aptos Display"/>
              </a:rPr>
              <a:t>   Module Implementation</a:t>
            </a:r>
            <a:endParaRPr lang="en-IN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87B2DA95-C7B0-683B-B1E0-B34B5659D5E4}"/>
              </a:ext>
            </a:extLst>
          </p:cNvPr>
          <p:cNvSpPr/>
          <p:nvPr/>
        </p:nvSpPr>
        <p:spPr>
          <a:xfrm>
            <a:off x="180000" y="935640"/>
            <a:ext cx="2260440" cy="36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IN" sz="1800" b="0" u="none" strike="noStrike" dirty="0">
                <a:solidFill>
                  <a:schemeClr val="dk1"/>
                </a:solidFill>
                <a:effectLst/>
                <a:uFillTx/>
                <a:latin typeface="Aptos"/>
              </a:rPr>
              <a:t>Observer Detector</a:t>
            </a: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3D95FB65-A59C-BDAC-9D10-026697C73124}"/>
              </a:ext>
            </a:extLst>
          </p:cNvPr>
          <p:cNvSpPr/>
          <p:nvPr/>
        </p:nvSpPr>
        <p:spPr>
          <a:xfrm>
            <a:off x="498360" y="1361022"/>
            <a:ext cx="11195280" cy="9218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IN" sz="1800" b="0" u="none" strike="noStrike" dirty="0">
                <a:solidFill>
                  <a:schemeClr val="dk1"/>
                </a:solidFill>
                <a:effectLst/>
                <a:uFillTx/>
                <a:latin typeface="Aptos"/>
              </a:rPr>
              <a:t>Source Code : </a:t>
            </a:r>
            <a:r>
              <a:rPr lang="en-IN" dirty="0">
                <a:hlinkClick r:id="rId2"/>
              </a:rPr>
              <a:t>static-analyzer-for-analysis-of-design-pattern/architecture-tutor-project/src/architecture_tutor/observer_detector.py at main · </a:t>
            </a:r>
            <a:r>
              <a:rPr lang="en-IN" dirty="0" err="1">
                <a:hlinkClick r:id="rId2"/>
              </a:rPr>
              <a:t>naresh-webdev</a:t>
            </a:r>
            <a:r>
              <a:rPr lang="en-IN" dirty="0">
                <a:hlinkClick r:id="rId2"/>
              </a:rPr>
              <a:t>/static-</a:t>
            </a:r>
            <a:r>
              <a:rPr lang="en-IN" dirty="0" err="1">
                <a:hlinkClick r:id="rId2"/>
              </a:rPr>
              <a:t>analyzer</a:t>
            </a:r>
            <a:r>
              <a:rPr lang="en-IN" dirty="0">
                <a:hlinkClick r:id="rId2"/>
              </a:rPr>
              <a:t>-for-analysis-of-design-pattern</a:t>
            </a: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" name="Picture 5">
            <a:extLst>
              <a:ext uri="{FF2B5EF4-FFF2-40B4-BE49-F238E27FC236}">
                <a16:creationId xmlns:a16="http://schemas.microsoft.com/office/drawing/2014/main" id="{D27261B2-BC77-97EE-4FD3-7E8E4EE9D9E6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657360" y="2955240"/>
            <a:ext cx="4220640" cy="368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" name="Picture 9">
            <a:extLst>
              <a:ext uri="{FF2B5EF4-FFF2-40B4-BE49-F238E27FC236}">
                <a16:creationId xmlns:a16="http://schemas.microsoft.com/office/drawing/2014/main" id="{E066AD7A-84D8-F998-A43C-6E3005E0C821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5279760" y="3193947"/>
            <a:ext cx="6504840" cy="2046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60FE07A-1576-5607-ABA8-52B159FC6291}"/>
              </a:ext>
            </a:extLst>
          </p:cNvPr>
          <p:cNvSpPr/>
          <p:nvPr/>
        </p:nvSpPr>
        <p:spPr>
          <a:xfrm>
            <a:off x="180000" y="2340000"/>
            <a:ext cx="1201176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IN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The Observer uses the Control Flow Graph (CFG) to prove that notify() successfully triggers the update() function </a:t>
            </a:r>
          </a:p>
        </p:txBody>
      </p:sp>
    </p:spTree>
    <p:extLst>
      <p:ext uri="{BB962C8B-B14F-4D97-AF65-F5344CB8AC3E}">
        <p14:creationId xmlns:p14="http://schemas.microsoft.com/office/powerpoint/2010/main" val="39531731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8CC36-50EA-85F8-411D-86B34714B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>
            <a:extLst>
              <a:ext uri="{FF2B5EF4-FFF2-40B4-BE49-F238E27FC236}">
                <a16:creationId xmlns:a16="http://schemas.microsoft.com/office/drawing/2014/main" id="{922578F3-AF79-5DB0-D106-D7A0D6004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122" y="231934"/>
            <a:ext cx="10804557" cy="3693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IN" sz="2400" b="1" dirty="0">
                <a:solidFill>
                  <a:schemeClr val="dk1"/>
                </a:solidFill>
                <a:latin typeface="Aptos"/>
              </a:rPr>
              <a:t>Template</a:t>
            </a:r>
            <a:r>
              <a:rPr lang="en-IN" sz="24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Algorithm</a:t>
            </a:r>
            <a:endParaRPr lang="en-I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E4FF5A-3B10-F298-8B8C-4828789CC94B}"/>
              </a:ext>
            </a:extLst>
          </p:cNvPr>
          <p:cNvSpPr txBox="1"/>
          <p:nvPr/>
        </p:nvSpPr>
        <p:spPr>
          <a:xfrm>
            <a:off x="403122" y="825527"/>
            <a:ext cx="1107112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Description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dirty="0"/>
              <a:t>Maps class hierarchies to identify Abstract Base Classes containing a concrete "skeleton" method that orchestrates execution by invoking its own deferred abstract methods.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IN" dirty="0"/>
              <a:t>Source Code File (Parsed into AST)</a:t>
            </a:r>
            <a:r>
              <a:rPr lang="en-US" dirty="0"/>
              <a:t>.</a:t>
            </a:r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Ecosystem Mapping: Traverse the AST to catalog Abstract Base Classes (ABCs), strictly separating their abstract methods from concrete methods while mapping the inheritance tree of all subclasses.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Skeleton Validation (Gateway): Scan the internal body of the ABC's concrete methods to detect if they make self.&lt;method&gt;() calls specifically targeting the class's own defined abstract methods.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Polymorphism Check: Cross-reference the mapped ecosystem to verify how many concrete subclasses exist to implement these deferred abstract steps.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Vector Assembly: Evaluate the template's usage based on child implementations and compile the findings into a matrix.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dirty="0"/>
              <a:t>A 3x1 </a:t>
            </a:r>
            <a:r>
              <a:rPr lang="en-US" dirty="0" err="1"/>
              <a:t>numpy</a:t>
            </a:r>
            <a:r>
              <a:rPr lang="en-US" dirty="0"/>
              <a:t> Feature Column Matrix representing [Skeleton, Has_1_Subclass, </a:t>
            </a:r>
            <a:r>
              <a:rPr lang="en-US" dirty="0" err="1"/>
              <a:t>Has_Multiple_Subclasses</a:t>
            </a:r>
            <a:r>
              <a:rPr lang="en-US" dirty="0"/>
              <a:t>], accompanied by structural evidence and usage suggestions.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75457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44049-32F4-A41B-B624-0475B0A5E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>
            <a:extLst>
              <a:ext uri="{FF2B5EF4-FFF2-40B4-BE49-F238E27FC236}">
                <a16:creationId xmlns:a16="http://schemas.microsoft.com/office/drawing/2014/main" id="{62B740AF-A432-1C06-214C-3B101F302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882800" cy="1303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IN" sz="3600" b="0" u="none" strike="noStrike" dirty="0">
                <a:solidFill>
                  <a:schemeClr val="dk1"/>
                </a:solidFill>
                <a:effectLst/>
                <a:uFillTx/>
                <a:latin typeface="Aptos Display"/>
              </a:rPr>
              <a:t>   Module Implementation</a:t>
            </a:r>
            <a:endParaRPr lang="en-IN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B93DD258-81C1-F787-04D2-B8056AF802D7}"/>
              </a:ext>
            </a:extLst>
          </p:cNvPr>
          <p:cNvSpPr/>
          <p:nvPr/>
        </p:nvSpPr>
        <p:spPr>
          <a:xfrm>
            <a:off x="268400" y="948960"/>
            <a:ext cx="2260440" cy="36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IN" sz="1800" b="0" u="none" strike="noStrike" dirty="0">
                <a:solidFill>
                  <a:schemeClr val="dk1"/>
                </a:solidFill>
                <a:effectLst/>
                <a:uFillTx/>
                <a:latin typeface="Aptos"/>
              </a:rPr>
              <a:t>Template Detector</a:t>
            </a: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F32B2485-EC25-6F80-C425-FE5958C7A6F4}"/>
              </a:ext>
            </a:extLst>
          </p:cNvPr>
          <p:cNvSpPr/>
          <p:nvPr/>
        </p:nvSpPr>
        <p:spPr>
          <a:xfrm>
            <a:off x="268400" y="1292111"/>
            <a:ext cx="11195280" cy="9218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IN" sz="1800" b="0" u="none" strike="noStrike" dirty="0">
                <a:solidFill>
                  <a:schemeClr val="dk1"/>
                </a:solidFill>
                <a:effectLst/>
                <a:uFillTx/>
                <a:latin typeface="Aptos"/>
              </a:rPr>
              <a:t>Source Code :</a:t>
            </a:r>
            <a:r>
              <a:rPr lang="en-IN" dirty="0">
                <a:hlinkClick r:id="rId2"/>
              </a:rPr>
              <a:t>static-</a:t>
            </a:r>
            <a:r>
              <a:rPr lang="en-IN" dirty="0" err="1">
                <a:hlinkClick r:id="rId2"/>
              </a:rPr>
              <a:t>analyzer</a:t>
            </a:r>
            <a:r>
              <a:rPr lang="en-IN" dirty="0">
                <a:hlinkClick r:id="rId2"/>
              </a:rPr>
              <a:t>-for-analysis-of-design-pattern/architecture-tutor-project/src/architecture_tutor/template_detector.py at main · </a:t>
            </a:r>
            <a:r>
              <a:rPr lang="en-IN" dirty="0" err="1">
                <a:hlinkClick r:id="rId2"/>
              </a:rPr>
              <a:t>naresh-webdev</a:t>
            </a:r>
            <a:r>
              <a:rPr lang="en-IN" dirty="0">
                <a:hlinkClick r:id="rId2"/>
              </a:rPr>
              <a:t>/static-</a:t>
            </a:r>
            <a:r>
              <a:rPr lang="en-IN" dirty="0" err="1">
                <a:hlinkClick r:id="rId2"/>
              </a:rPr>
              <a:t>analyzer</a:t>
            </a:r>
            <a:r>
              <a:rPr lang="en-IN" dirty="0">
                <a:hlinkClick r:id="rId2"/>
              </a:rPr>
              <a:t>-for-analysis-of-design-pattern</a:t>
            </a: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D950D8-B1D2-5164-B579-859319A830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4720" y="3302553"/>
            <a:ext cx="5993016" cy="22633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40B04C1-ACF2-4B4C-46AE-2E4C28A2BB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20" y="2721436"/>
            <a:ext cx="5357324" cy="401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6032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C18D1-A9B5-4A52-6AD8-6CF08E4BF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>
            <a:extLst>
              <a:ext uri="{FF2B5EF4-FFF2-40B4-BE49-F238E27FC236}">
                <a16:creationId xmlns:a16="http://schemas.microsoft.com/office/drawing/2014/main" id="{01AAD762-9D80-E5E0-9429-11E1B04B5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122" y="231934"/>
            <a:ext cx="10804557" cy="3693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IN" sz="2400" b="1" dirty="0">
                <a:solidFill>
                  <a:schemeClr val="dk1"/>
                </a:solidFill>
                <a:latin typeface="Aptos"/>
              </a:rPr>
              <a:t>Strategy</a:t>
            </a:r>
            <a:r>
              <a:rPr lang="en-IN" sz="24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Algorithm</a:t>
            </a:r>
            <a:endParaRPr lang="en-I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B2EE56-2041-6B94-B111-E597C907E888}"/>
              </a:ext>
            </a:extLst>
          </p:cNvPr>
          <p:cNvSpPr txBox="1"/>
          <p:nvPr/>
        </p:nvSpPr>
        <p:spPr>
          <a:xfrm>
            <a:off x="403122" y="825527"/>
            <a:ext cx="1107112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Description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dirty="0"/>
              <a:t>Evaluates class composition and delegation to identify dynamic algorithm swapping, verifying multiple interchangeable implementations, formal interface contracts, and type safety.</a:t>
            </a:r>
          </a:p>
          <a:p>
            <a:r>
              <a:rPr lang="en-US" dirty="0"/>
              <a:t> 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IN" dirty="0"/>
              <a:t>Source Code File (Parsed into AST)</a:t>
            </a:r>
            <a:r>
              <a:rPr lang="en-US" dirty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Ecosystem Mapping: Traverse the AST to index all Abstract Base Classes (ABCs), their abstract methods, and map out all concrete method implementations across the file.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Injection &amp; Delegation (Gateway): Scan class definitions to identify state injected via arguments and stored as instance variables, then detect if the class delegates execution by calling methods on those injected objects (e.g.,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self.strategy.execute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()).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Interchangeability Check: Cross-reference the delegated method with the mapped ecosystem to confirm if multiple distinct classes implement that specific behavior.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Contract &amp; Type Verification: Validate if the delegated method is governed by a formal ABC interface, and check if the injected variable explicitly uses Python type hinting to enforce that contract.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dirty="0"/>
              <a:t>A 4x1 Feature Column Matrix representing [</a:t>
            </a:r>
            <a:r>
              <a:rPr lang="en-US" dirty="0" err="1"/>
              <a:t>Basic_Structure</a:t>
            </a:r>
            <a:r>
              <a:rPr lang="en-US" dirty="0"/>
              <a:t>, </a:t>
            </a:r>
            <a:r>
              <a:rPr lang="en-US" dirty="0" err="1"/>
              <a:t>Multiple_Implementations</a:t>
            </a:r>
            <a:r>
              <a:rPr lang="en-US" dirty="0"/>
              <a:t>, </a:t>
            </a:r>
            <a:r>
              <a:rPr lang="en-US" dirty="0" err="1"/>
              <a:t>ABC_Interface_Used</a:t>
            </a:r>
            <a:r>
              <a:rPr lang="en-US" dirty="0"/>
              <a:t>, </a:t>
            </a:r>
            <a:r>
              <a:rPr lang="en-US" dirty="0" err="1"/>
              <a:t>Properly_Type_Hinted</a:t>
            </a:r>
            <a:r>
              <a:rPr lang="en-US" dirty="0"/>
              <a:t>], accompanied by structural evidence and typing suggestions.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59651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7269D-274D-9DB8-BBA5-B86565A6E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>
            <a:extLst>
              <a:ext uri="{FF2B5EF4-FFF2-40B4-BE49-F238E27FC236}">
                <a16:creationId xmlns:a16="http://schemas.microsoft.com/office/drawing/2014/main" id="{230C2497-9AA2-3F34-CCA7-5D6314409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882800" cy="1303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IN" sz="36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   Module Implementation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761BA20C-91B3-0E46-4059-357E40814BB7}"/>
              </a:ext>
            </a:extLst>
          </p:cNvPr>
          <p:cNvSpPr/>
          <p:nvPr/>
        </p:nvSpPr>
        <p:spPr>
          <a:xfrm>
            <a:off x="288720" y="948960"/>
            <a:ext cx="2260440" cy="36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IN" dirty="0">
                <a:solidFill>
                  <a:schemeClr val="dk1"/>
                </a:solidFill>
                <a:latin typeface="Aptos"/>
              </a:rPr>
              <a:t>Strategy</a:t>
            </a:r>
            <a:r>
              <a:rPr lang="en-IN" sz="1800" b="0" u="none" strike="noStrike" dirty="0">
                <a:solidFill>
                  <a:schemeClr val="dk1"/>
                </a:solidFill>
                <a:effectLst/>
                <a:uFillTx/>
                <a:latin typeface="Aptos"/>
              </a:rPr>
              <a:t> Detector</a:t>
            </a: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1415A446-79CD-406E-3D27-64E3F044FB53}"/>
              </a:ext>
            </a:extLst>
          </p:cNvPr>
          <p:cNvSpPr/>
          <p:nvPr/>
        </p:nvSpPr>
        <p:spPr>
          <a:xfrm>
            <a:off x="288720" y="1331004"/>
            <a:ext cx="11195280" cy="9218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IN" sz="1800" b="0" u="none" strike="noStrike" dirty="0">
                <a:solidFill>
                  <a:schemeClr val="dk1"/>
                </a:solidFill>
                <a:effectLst/>
                <a:uFillTx/>
                <a:latin typeface="Aptos"/>
              </a:rPr>
              <a:t>Source Code :</a:t>
            </a:r>
            <a:r>
              <a:rPr lang="en-IN" dirty="0">
                <a:hlinkClick r:id="rId2"/>
              </a:rPr>
              <a:t>static-</a:t>
            </a:r>
            <a:r>
              <a:rPr lang="en-IN" dirty="0" err="1">
                <a:hlinkClick r:id="rId2"/>
              </a:rPr>
              <a:t>analyzer</a:t>
            </a:r>
            <a:r>
              <a:rPr lang="en-IN" dirty="0">
                <a:hlinkClick r:id="rId2"/>
              </a:rPr>
              <a:t>-for-analysis-of-design-pattern/architecture-tutor-project/src/architecture_tutor/strategy_detector.py at main · </a:t>
            </a:r>
            <a:r>
              <a:rPr lang="en-IN" dirty="0" err="1">
                <a:hlinkClick r:id="rId2"/>
              </a:rPr>
              <a:t>naresh-webdev</a:t>
            </a:r>
            <a:r>
              <a:rPr lang="en-IN" dirty="0">
                <a:hlinkClick r:id="rId2"/>
              </a:rPr>
              <a:t>/static-</a:t>
            </a:r>
            <a:r>
              <a:rPr lang="en-IN" dirty="0" err="1">
                <a:hlinkClick r:id="rId2"/>
              </a:rPr>
              <a:t>analyzer</a:t>
            </a:r>
            <a:r>
              <a:rPr lang="en-IN" dirty="0">
                <a:hlinkClick r:id="rId2"/>
              </a:rPr>
              <a:t>-for-analysis-of-design-pattern</a:t>
            </a: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A0D2F3-3CF3-5E8D-8CB5-FA1712A8CF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080" y="2438400"/>
            <a:ext cx="6136640" cy="418748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236CAEC-CD7A-F592-5B3C-46799393E2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646" y="2930893"/>
            <a:ext cx="4922894" cy="2829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5712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Box 2"/>
          <p:cNvSpPr/>
          <p:nvPr/>
        </p:nvSpPr>
        <p:spPr>
          <a:xfrm>
            <a:off x="730080" y="657360"/>
            <a:ext cx="2643840" cy="45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en-US" sz="2400" b="1" dirty="0">
                <a:solidFill>
                  <a:schemeClr val="dk1"/>
                </a:solidFill>
                <a:latin typeface="Aptos"/>
              </a:rPr>
              <a:t>Conclusion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Aptos"/>
              </a:rPr>
              <a:t>:</a:t>
            </a:r>
            <a:endParaRPr lang="en-I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394A48-0A98-18FD-8298-1879837524D7}"/>
              </a:ext>
            </a:extLst>
          </p:cNvPr>
          <p:cNvSpPr txBox="1"/>
          <p:nvPr/>
        </p:nvSpPr>
        <p:spPr>
          <a:xfrm>
            <a:off x="1170038" y="1366686"/>
            <a:ext cx="104615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Bridging the "Soundness Gap":</a:t>
            </a:r>
            <a:r>
              <a:rPr lang="en-US" dirty="0"/>
              <a:t> Successfully developed a static analyzer that prioritizes architectural integrity over simple syntax checking, effectively distinguishing between professional design patterns and "shallow" implementations.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2190B3-60B2-AAF8-4627-086CE8BBBF8B}"/>
              </a:ext>
            </a:extLst>
          </p:cNvPr>
          <p:cNvSpPr txBox="1"/>
          <p:nvPr/>
        </p:nvSpPr>
        <p:spPr>
          <a:xfrm>
            <a:off x="1194618" y="2374500"/>
            <a:ext cx="104615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Enriched Structural Analysis:</a:t>
            </a:r>
            <a:r>
              <a:rPr lang="en-IN" dirty="0"/>
              <a:t> Leveraged the </a:t>
            </a:r>
            <a:r>
              <a:rPr lang="en-IN" b="1" dirty="0"/>
              <a:t>Scalpel</a:t>
            </a:r>
            <a:r>
              <a:rPr lang="en-IN" dirty="0"/>
              <a:t> framework to move beyond text-based parsing, utilizing Abstract Syntax Trees (AST) and Control Flow Graphs (CFG) to map complex program logic as a formal mathematical "blueprint."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C7513A-3CC3-F967-72FE-A37722DFF605}"/>
              </a:ext>
            </a:extLst>
          </p:cNvPr>
          <p:cNvSpPr txBox="1"/>
          <p:nvPr/>
        </p:nvSpPr>
        <p:spPr>
          <a:xfrm>
            <a:off x="1170037" y="3429000"/>
            <a:ext cx="104615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Quantitative Design Quality:</a:t>
            </a:r>
            <a:r>
              <a:rPr lang="en-US" dirty="0"/>
              <a:t> Introduced the </a:t>
            </a:r>
            <a:r>
              <a:rPr lang="en-US" b="1" dirty="0"/>
              <a:t>Global Design Quality Index (GDQI)</a:t>
            </a:r>
            <a:r>
              <a:rPr lang="en-US" dirty="0"/>
              <a:t>, providing developers with a measurable "Design Grade" to objectively assess and improve software architecture.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31D50F-F1DE-A972-F645-5017FF6E3D6B}"/>
              </a:ext>
            </a:extLst>
          </p:cNvPr>
          <p:cNvSpPr txBox="1"/>
          <p:nvPr/>
        </p:nvSpPr>
        <p:spPr>
          <a:xfrm>
            <a:off x="1184787" y="4468762"/>
            <a:ext cx="104615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Operational Deployment:</a:t>
            </a:r>
            <a:r>
              <a:rPr lang="en-US" dirty="0"/>
              <a:t> Reached the project goal by successfully publishing </a:t>
            </a:r>
            <a:r>
              <a:rPr lang="en-US" b="1" dirty="0"/>
              <a:t>architecture-tutor</a:t>
            </a:r>
            <a:r>
              <a:rPr lang="en-US" dirty="0"/>
              <a:t> as a live, production-ready package on </a:t>
            </a:r>
            <a:r>
              <a:rPr lang="en-US" b="1" dirty="0" err="1"/>
              <a:t>PyPI</a:t>
            </a:r>
            <a:r>
              <a:rPr lang="en-US" dirty="0"/>
              <a:t>, demonstrating cross-platform stability and real-world scalability.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438B4B-434A-BBB1-13A6-CC5C66EFC391}"/>
              </a:ext>
            </a:extLst>
          </p:cNvPr>
          <p:cNvSpPr txBox="1"/>
          <p:nvPr/>
        </p:nvSpPr>
        <p:spPr>
          <a:xfrm>
            <a:off x="1209367" y="5466742"/>
            <a:ext cx="104615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Final Impact:</a:t>
            </a:r>
            <a:r>
              <a:rPr lang="en-US" dirty="0"/>
              <a:t> The tool serves as a safeguard against architectural erosion, offering automated refactoring recommendations that ensure long-term code reliability and maintainability.</a:t>
            </a:r>
            <a:endParaRPr lang="en-IN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64839-6019-4321-DACC-F0168B739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Box 2">
            <a:extLst>
              <a:ext uri="{FF2B5EF4-FFF2-40B4-BE49-F238E27FC236}">
                <a16:creationId xmlns:a16="http://schemas.microsoft.com/office/drawing/2014/main" id="{F20DCD96-B53A-2B9D-9503-76A1035C30A5}"/>
              </a:ext>
            </a:extLst>
          </p:cNvPr>
          <p:cNvSpPr/>
          <p:nvPr/>
        </p:nvSpPr>
        <p:spPr>
          <a:xfrm>
            <a:off x="730080" y="657360"/>
            <a:ext cx="2643840" cy="45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/>
            <a:r>
              <a:rPr lang="en-US" sz="2400" b="1" dirty="0">
                <a:solidFill>
                  <a:schemeClr val="dk1"/>
                </a:solidFill>
              </a:rPr>
              <a:t>References 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Aptos"/>
              </a:rPr>
              <a:t>:</a:t>
            </a:r>
            <a:endParaRPr lang="en-I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Rectangle 1">
            <a:extLst>
              <a:ext uri="{FF2B5EF4-FFF2-40B4-BE49-F238E27FC236}">
                <a16:creationId xmlns:a16="http://schemas.microsoft.com/office/drawing/2014/main" id="{9AE0E22D-9B4E-6FD3-2274-1FBCC00AE401}"/>
              </a:ext>
            </a:extLst>
          </p:cNvPr>
          <p:cNvSpPr/>
          <p:nvPr/>
        </p:nvSpPr>
        <p:spPr>
          <a:xfrm>
            <a:off x="730080" y="1716480"/>
            <a:ext cx="11166840" cy="427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158760" numCol="1" spcCol="0" anchor="ctr">
            <a:spAutoFit/>
          </a:bodyPr>
          <a:lstStyle/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Aptos Display"/>
              <a:buAutoNum type="arabicPeriod"/>
            </a:pPr>
            <a:r>
              <a:rPr lang="en-IN" sz="18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Yama:</a:t>
            </a:r>
            <a:r>
              <a:rPr lang="en-IN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Precise Opcode-Based Data Flow Analysis for Detecting PHP Applications Vulnerabilities</a:t>
            </a:r>
          </a:p>
          <a:p>
            <a:pPr algn="just" defTabSz="914400">
              <a:lnSpc>
                <a:spcPct val="100000"/>
              </a:lnSpc>
            </a:pPr>
            <a:r>
              <a:rPr lang="en-IN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https://ieeexplore.ieee.org/document/11095739</a:t>
            </a:r>
          </a:p>
          <a:p>
            <a:pPr algn="just" defTabSz="914400">
              <a:lnSpc>
                <a:spcPct val="100000"/>
              </a:lnSpc>
            </a:pP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lang="en-IN" sz="18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2.ForBac:</a:t>
            </a:r>
            <a:r>
              <a:rPr lang="en-IN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A Static Analysis Approach With Forward and Backward Analysis for Precision in Floating-Point Computations</a:t>
            </a:r>
          </a:p>
          <a:p>
            <a:pPr algn="just" defTabSz="914400">
              <a:lnSpc>
                <a:spcPct val="100000"/>
              </a:lnSpc>
            </a:pPr>
            <a:r>
              <a:rPr lang="en-IN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https://ieeexplore.ieee.org/document/10990216</a:t>
            </a:r>
          </a:p>
          <a:p>
            <a:pPr algn="just" defTabSz="914400">
              <a:lnSpc>
                <a:spcPct val="100000"/>
              </a:lnSpc>
            </a:pP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lang="en-IN" sz="18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3.The Best of Abstract Interpretations </a:t>
            </a: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lang="en-IN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https://dl.acm.org/doi/epdf/10.1145/3704882</a:t>
            </a:r>
          </a:p>
          <a:p>
            <a:pPr algn="just" defTabSz="914400">
              <a:lnSpc>
                <a:spcPct val="100000"/>
              </a:lnSpc>
            </a:pP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lang="en-IN" sz="18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4.CoSSJIT:</a:t>
            </a:r>
            <a:r>
              <a:rPr lang="en-IN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Combining Static Analysis and Speculation in </a:t>
            </a:r>
            <a:r>
              <a:rPr lang="en-IN" sz="18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JITCompilers</a:t>
            </a: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lang="en-IN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https://dl.acm.org/doi/epdf/10.1145/3763149</a:t>
            </a:r>
          </a:p>
          <a:p>
            <a:pPr algn="just" defTabSz="914400">
              <a:lnSpc>
                <a:spcPct val="100000"/>
              </a:lnSpc>
            </a:pP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lang="en-IN" sz="18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5.PHPJoy:</a:t>
            </a:r>
            <a:r>
              <a:rPr lang="en-IN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A Novel Extended Graph-Based PHP Code Analysis Framework.</a:t>
            </a:r>
          </a:p>
          <a:p>
            <a:pPr algn="just" defTabSz="914400">
              <a:lnSpc>
                <a:spcPct val="100000"/>
              </a:lnSpc>
            </a:pPr>
            <a:r>
              <a:rPr lang="en-IN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https://ieeexplore.ieee.org/document/11181216</a:t>
            </a:r>
          </a:p>
        </p:txBody>
      </p:sp>
    </p:spTree>
    <p:extLst>
      <p:ext uri="{BB962C8B-B14F-4D97-AF65-F5344CB8AC3E}">
        <p14:creationId xmlns:p14="http://schemas.microsoft.com/office/powerpoint/2010/main" val="11506744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TM16401375[[fn=Madison]]</Template>
  <TotalTime>2477</TotalTime>
  <Words>2907</Words>
  <Application>Microsoft Office PowerPoint</Application>
  <PresentationFormat>Widescreen</PresentationFormat>
  <Paragraphs>257</Paragraphs>
  <Slides>20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Aptos</vt:lpstr>
      <vt:lpstr>Aptos Display</vt:lpstr>
      <vt:lpstr>Arial</vt:lpstr>
      <vt:lpstr>Calibri Light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Vector-Based Detection Framework</vt:lpstr>
      <vt:lpstr>Singleton Algorithm</vt:lpstr>
      <vt:lpstr>   Module Implementation</vt:lpstr>
      <vt:lpstr>Factory Algorithm</vt:lpstr>
      <vt:lpstr>   Module Implementation</vt:lpstr>
      <vt:lpstr>Observer Algorithm</vt:lpstr>
      <vt:lpstr>   Module Implementation</vt:lpstr>
      <vt:lpstr>Template Algorithm</vt:lpstr>
      <vt:lpstr>   Module Implementation</vt:lpstr>
      <vt:lpstr>Strategy Algorithm</vt:lpstr>
      <vt:lpstr>   Module Implementation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Varun karthikeyan.M</dc:creator>
  <dc:description/>
  <cp:lastModifiedBy>Naresh M</cp:lastModifiedBy>
  <cp:revision>105</cp:revision>
  <cp:lastPrinted>2026-01-27T14:08:20Z</cp:lastPrinted>
  <dcterms:created xsi:type="dcterms:W3CDTF">2026-01-23T05:42:45Z</dcterms:created>
  <dcterms:modified xsi:type="dcterms:W3CDTF">2026-04-18T01:55:14Z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Widescreen</vt:lpwstr>
  </property>
  <property fmtid="{D5CDD505-2E9C-101B-9397-08002B2CF9AE}" pid="4" name="Slides">
    <vt:i4>26</vt:i4>
  </property>
</Properties>
</file>